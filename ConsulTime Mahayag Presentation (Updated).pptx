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5600" b="1">
                <a:solidFill>
                  <a:srgbClr val="34D399"/>
                </a:solidFill>
                <a:latin typeface="Arial"/>
              </a:defRPr>
            </a:pPr>
            <a:r>
              <a:t>CONSULTIME</a:t>
            </a:r>
          </a:p>
          <a:p>
            <a:pPr>
              <a:spcAft>
                <a:spcPts val="4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A Cross-Platform Consultation and Appointment Management System for Mahayag National High School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Presented by: Philipp Edward Sapalicio, Ednell Sapalicio</a:t>
            </a:r>
          </a:p>
          <a:p>
            <a:pPr>
              <a:defRPr sz="1300">
                <a:solidFill>
                  <a:srgbClr val="3B82F6"/>
                </a:solidFill>
                <a:latin typeface="Arial"/>
              </a:defRPr>
            </a:pPr>
            <a:r>
              <a:t>ITE Department, Philippine College of Technology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PROBLEM STATEMENT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Challenges in manual scheduling and communication at Mahayag NHS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34D399"/>
                </a:solidFill>
              </a:defRPr>
            </a:pPr>
            <a:r>
              <a:t>The Scheduling friction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Academic scheduling at Mahayag National High School remains largely manual, relying on paper logbooks, physical bulletin boards, and uncoordinated verbal updates.</a:t>
            </a:r>
            <a:br/>
            <a:br/>
            <a:r>
              <a:t>This leads to inefficient time management, missed consultation slots, and coordination gaps.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645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34840" y="164592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Uncoordinated Timetables:</a:t>
            </a:r>
            <a:r>
              <a:rPr b="0">
                <a:solidFill>
                  <a:srgbClr val="1F2937"/>
                </a:solidFill>
              </a:rPr>
              <a:t> Relying on static lists on doors leads to appointment conflicts.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645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64592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Communication Gaps:</a:t>
            </a:r>
            <a:r>
              <a:rPr b="0">
                <a:solidFill>
                  <a:srgbClr val="1F2937"/>
                </a:solidFill>
              </a:rPr>
              <a:t> Lack of instant notifications for sudden timetable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3931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393192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1480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Security Concerns:</a:t>
            </a:r>
            <a:r>
              <a:rPr b="0">
                <a:solidFill>
                  <a:srgbClr val="1F2937"/>
                </a:solidFill>
              </a:rPr>
              <a:t> No centralized verification process, allowing unvetted sign-ups.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3931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93192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11480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No Touch Optimization:</a:t>
            </a:r>
            <a:r>
              <a:rPr b="0">
                <a:solidFill>
                  <a:srgbClr val="1F2937"/>
                </a:solidFill>
              </a:rPr>
              <a:t> Current systems lack mobile responsiveness, limiting accessibility.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OBJECTIVES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Primary and specific objectives of ConsulTime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2000">
                <a:solidFill>
                  <a:srgbClr val="34D399"/>
                </a:solidFill>
              </a:defRPr>
            </a:pPr>
            <a:r>
              <a:t>Primary Objective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To design, develop, and implement ConsulTime: a real-time academic consultation and appointment management system for Mahayag National High School to digitize and streamline scheduling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645920"/>
            <a:ext cx="6858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645920"/>
            <a:ext cx="109728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700">
                <a:solidFill>
                  <a:srgbClr val="1E3A8A"/>
                </a:solidFill>
              </a:defRPr>
            </a:pPr>
            <a:r>
              <a:t>Specific Capstone Targets: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286000"/>
            <a:ext cx="62179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Secure User Gateways:</a:t>
            </a:r>
            <a:r>
              <a:rPr b="0">
                <a:solidFill>
                  <a:srgbClr val="1F2937"/>
                </a:solidFill>
              </a:rPr>
              <a:t> Develop secure registration and login views for Students, Faculty, and Administrators.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Dynamic Schedule Blocks:</a:t>
            </a:r>
            <a:r>
              <a:rPr b="0">
                <a:solidFill>
                  <a:srgbClr val="1F2937"/>
                </a:solidFill>
              </a:rPr>
              <a:t> Allow faculty members to declare, modify, and close availability hours in real time.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Responsive Client UI:</a:t>
            </a:r>
            <a:r>
              <a:rPr b="0">
                <a:solidFill>
                  <a:srgbClr val="1F2937"/>
                </a:solidFill>
              </a:rPr>
              <a:t> Establish a mobile-friendly appointment booking form for students.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Account Vetting Panel:</a:t>
            </a:r>
            <a:r>
              <a:rPr b="0">
                <a:solidFill>
                  <a:srgbClr val="1F2937"/>
                </a:solidFill>
              </a:rPr>
              <a:t> Integrate approval toggles for admins to verify faculty credentials before activation.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Cross-Platform Compilation:</a:t>
            </a:r>
            <a:r>
              <a:rPr b="0">
                <a:solidFill>
                  <a:srgbClr val="1F2937"/>
                </a:solidFill>
              </a:rPr>
              <a:t> Deploy system as a local-cached PWA and native Android App wrapper (.APK).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SCOPE AND LIMITATIONS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Technical boundaries and operational constraints of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Project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Scheduling Engine:</a:t>
            </a:r>
            <a:r>
              <a:rPr b="0">
                <a:solidFill>
                  <a:srgbClr val="1F2937"/>
                </a:solidFill>
              </a:rPr>
              <a:t> Tracks student appointment requests and faculty responses.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Real-Time Sync:</a:t>
            </a:r>
            <a:r>
              <a:rPr b="0">
                <a:solidFill>
                  <a:srgbClr val="1F2937"/>
                </a:solidFill>
              </a:rPr>
              <a:t> Updates calendar states instantly across client dashboards when changed.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Authentication Controls:</a:t>
            </a:r>
            <a:r>
              <a:rPr b="0">
                <a:solidFill>
                  <a:srgbClr val="1F2937"/>
                </a:solidFill>
              </a:rPr>
              <a:t> Limits system read/write capabilities according to user roles.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Administrative Vetting:</a:t>
            </a:r>
            <a:r>
              <a:rPr b="0">
                <a:solidFill>
                  <a:srgbClr val="1F2937"/>
                </a:solidFill>
              </a:rPr>
              <a:t> Validates faculty profile registration parameters.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System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No Video Calls:</a:t>
            </a:r>
            <a:r>
              <a:rPr b="0">
                <a:solidFill>
                  <a:srgbClr val="1F2937"/>
                </a:solidFill>
              </a:rPr>
              <a:t> Stakeholders communicate inside the system but meet physically (no video frame integration).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iOS Limitations:</a:t>
            </a:r>
            <a:r>
              <a:rPr b="0">
                <a:solidFill>
                  <a:srgbClr val="1F2937"/>
                </a:solidFill>
              </a:rPr>
              <a:t> Mobile native compilation generates Android wrapper packages (.APK) only.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Internet Dependency:</a:t>
            </a:r>
            <a:r>
              <a:rPr b="0">
                <a:solidFill>
                  <a:srgbClr val="1F2937"/>
                </a:solidFill>
              </a:rPr>
              <a:t> Relies on cloud listeners and requires active connections for data sync.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No Document Scanning:</a:t>
            </a:r>
            <a:r>
              <a:rPr b="0">
                <a:solidFill>
                  <a:srgbClr val="1F2937"/>
                </a:solidFill>
              </a:rPr>
              <a:t> Relies on user uploads (no optical character recognition utilities).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SIGNIFICANCE OF THE STUDY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Impact of ConsulTime on school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b="1" sz="1600">
                <a:solidFill>
                  <a:srgbClr val="1E3A8A"/>
                </a:solidFill>
              </a:defRPr>
            </a:pPr>
            <a:r>
              <a:t>To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2004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Reduces manual scheduling friction.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Enables quick reservation of slots directly from phones.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Keeps students updated on request statuses instantly.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b="1" sz="1600">
                <a:solidFill>
                  <a:srgbClr val="1E3A8A"/>
                </a:solidFill>
              </a:defRPr>
            </a:pPr>
            <a:r>
              <a:t>To Faculty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2004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Saves time by removing manual logbooks.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Allows setting custom consultation availability slots.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Prevents double-booking conflicts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56616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004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b="1" sz="1600">
                <a:solidFill>
                  <a:srgbClr val="1E3A8A"/>
                </a:solidFill>
              </a:defRPr>
            </a:pPr>
            <a:r>
              <a:t>To School Administrators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2004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Provides unified portal to audit registrations.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Maintains verified, secure list of active academic roles.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Saves history of consultations for research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  <a:p>
            <a:pPr>
              <a:defRPr sz="1400">
                <a:solidFill>
                  <a:srgbClr val="34D399"/>
                </a:solidFill>
                <a:latin typeface="Arial"/>
              </a:defRPr>
            </a:pPr>
            <a:r>
              <a:t>ConsulTime's three-tier design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926080" cy="32004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4D399"/>
                </a:solidFill>
              </a:defRPr>
            </a:pPr>
            <a:r>
              <a:t>CLIENT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Web App: HTML5, CSS3, ES6 JS.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Android Package: Compiled native wrapper via Capacitor.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Caching: Service Worker (sw.js) for fast assets offline reload.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3657600"/>
            <a:ext cx="640080" cy="4572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2286000"/>
            <a:ext cx="2926080" cy="3200400"/>
          </a:xfrm>
          <a:prstGeom prst="rect">
            <a:avLst/>
          </a:prstGeom>
          <a:solidFill>
            <a:srgbClr val="1E3A8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46888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4D399"/>
                </a:solidFill>
              </a:defRPr>
            </a:pPr>
            <a:r>
              <a:t>CLOUD DATABASE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Supabase Instance: Relational PostgreSQL schema host.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Row Level Security (RLS): Enforces access restrictions.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Real-Time Subscriptions: Pushes database writes instantly.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3657600"/>
            <a:ext cx="64008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2286000"/>
            <a:ext cx="2926080" cy="32004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46888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4D399"/>
                </a:solidFill>
              </a:defRPr>
            </a:pPr>
            <a:r>
              <a:t>ADMINISTRATIVE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92608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Vetting Controls: Activates pending faculty registrations.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Telemetry Checks: Monitors database speeds and latencies.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Version Control: Syncs version.json to reload clients.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DATABASE SCHEMA: USERS &amp; AVAILABILITIES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Detailed view of the profiles and availabilities relations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1E3A8A"/>
                </a:solidFill>
              </a:defRPr>
            </a:pPr>
            <a:r>
              <a:t>Table 1: User Profiles (profiles)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uuid id:</a:t>
            </a:r>
            <a:r>
              <a:rPr b="0">
                <a:solidFill>
                  <a:srgbClr val="1F2937"/>
                </a:solidFill>
              </a:rPr>
              <a:t> Primary Key linked to Supabase auth credentials.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role:</a:t>
            </a:r>
            <a:r>
              <a:rPr b="0">
                <a:solidFill>
                  <a:srgbClr val="1F2937"/>
                </a:solidFill>
              </a:rPr>
              <a:t> Limits users to Student, Faculty, or Admin.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department:</a:t>
            </a:r>
            <a:r>
              <a:rPr b="0">
                <a:solidFill>
                  <a:srgbClr val="1F2937"/>
                </a:solidFill>
              </a:rPr>
              <a:t> Stores academic department information.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id_number:</a:t>
            </a:r>
            <a:r>
              <a:rPr b="0">
                <a:solidFill>
                  <a:srgbClr val="1F2937"/>
                </a:solidFill>
              </a:rPr>
              <a:t> University standard identification field.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boolean is_approved:</a:t>
            </a:r>
            <a:r>
              <a:rPr b="0">
                <a:solidFill>
                  <a:srgbClr val="1F2937"/>
                </a:solidFill>
              </a:rPr>
              <a:t> Vetting flag for faculty accounts.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1E3A8A"/>
                </a:solidFill>
              </a:defRPr>
            </a:pPr>
            <a:r>
              <a:t>Table 2: Availabilities (availabilities)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uuid faculty_id:</a:t>
            </a:r>
            <a:r>
              <a:rPr b="0">
                <a:solidFill>
                  <a:srgbClr val="1F2937"/>
                </a:solidFill>
              </a:rPr>
              <a:t> Foreign Key pointing to profiles.id.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int4 day_of_week:</a:t>
            </a:r>
            <a:r>
              <a:rPr b="0">
                <a:solidFill>
                  <a:srgbClr val="1F2937"/>
                </a:solidFill>
              </a:rPr>
              <a:t> Maps recurring days from Monday to Friday.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time start_time:</a:t>
            </a:r>
            <a:r>
              <a:rPr b="0">
                <a:solidFill>
                  <a:srgbClr val="1F2937"/>
                </a:solidFill>
              </a:rPr>
              <a:t> Availability block start boundary.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time end_time:</a:t>
            </a:r>
            <a:r>
              <a:rPr b="0">
                <a:solidFill>
                  <a:srgbClr val="1F2937"/>
                </a:solidFill>
              </a:rPr>
              <a:t> Availability block end boundary.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date specific_date:</a:t>
            </a:r>
            <a:r>
              <a:rPr b="0">
                <a:solidFill>
                  <a:srgbClr val="1F2937"/>
                </a:solidFill>
              </a:rPr>
              <a:t> Optional single-occurrence time window overrides.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DATABASE SCHEMA: BOOKINGS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Transactional engine of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37160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1E3A8A"/>
                </a:solidFill>
              </a:defRPr>
            </a:pPr>
            <a:r>
              <a:t>Table 3: Consultation Bookings (bookings)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uuid student_id &amp; faculty_id:</a:t>
            </a:r>
            <a:r>
              <a:rPr b="0">
                <a:solidFill>
                  <a:srgbClr val="1F2937"/>
                </a:solidFill>
              </a:rPr>
              <a:t> Dual Foreign Keys referencing user profile tables to bind participants.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date appointment_date:</a:t>
            </a:r>
            <a:r>
              <a:rPr b="0">
                <a:solidFill>
                  <a:srgbClr val="1F2937"/>
                </a:solidFill>
              </a:rPr>
              <a:t> Calendar date of the consultation.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time start_time &amp; end_time:</a:t>
            </a:r>
            <a:r>
              <a:rPr b="0">
                <a:solidFill>
                  <a:srgbClr val="1F2937"/>
                </a:solidFill>
              </a:rPr>
              <a:t> Precise timing parameters of the consultation.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purpose:</a:t>
            </a:r>
            <a:r>
              <a:rPr b="0">
                <a:solidFill>
                  <a:srgbClr val="1F2937"/>
                </a:solidFill>
              </a:rPr>
              <a:t> Qualitative reason block filled out by the student.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status:</a:t>
            </a:r>
            <a:r>
              <a:rPr b="0">
                <a:solidFill>
                  <a:srgbClr val="1F2937"/>
                </a:solidFill>
              </a:rPr>
              <a:t> Booking state constraint strictly restricted to Pending, Approved, or Rejected.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faculty_notes:</a:t>
            </a:r>
            <a:r>
              <a:rPr b="0">
                <a:solidFill>
                  <a:srgbClr val="1F2937"/>
                </a:solidFill>
              </a:rPr>
              <a:t> Optional feedback block for instructors to write resolutions.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DATABASE RELATIONAL TABLES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Live database table records hosted on Supabase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b_profiles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4747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Supabase profiles schema showing role distribution, credentials mapping, and user vetting statuses.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2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b_availability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645920"/>
            <a:ext cx="347472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52544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Faculty availability slots table with dynamic timestamps, day-of-week markers, and recurring boundaries.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4736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b_bookings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645920"/>
            <a:ext cx="347472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47888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Transactional bookings junction table mapping student/instructor requests and status state transitions.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SHOWCASE: ACCESS &amp; REGISTRATION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Secure user gateway and sign-up pipeline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4901184" cy="42611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548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521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1: Login interface. Routes user role to Student, Faculty, or Admin dashboard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9088" y="1572768"/>
            <a:ext cx="4901184" cy="42611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gister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47548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8521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2: Registration console. Restricts emails to school domains and collects faculty verification uploads.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SHOWCASE: STUDENT DASHBOARD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Student view for scheduling and app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1E3A8A"/>
                </a:solidFill>
              </a:defRPr>
            </a:pPr>
            <a:r>
              <a:t>Student Panel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5661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Upcoming Bookings:</a:t>
            </a:r>
            <a:r>
              <a:rPr b="0">
                <a:solidFill>
                  <a:srgbClr val="1F2937"/>
                </a:solidFill>
              </a:rPr>
              <a:t> Lists active appointment schedules and statuses.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APK Download:</a:t>
            </a:r>
            <a:r>
              <a:rPr b="0">
                <a:solidFill>
                  <a:srgbClr val="1F2937"/>
                </a:solidFill>
              </a:rPr>
              <a:t> Banners link directly to Capacitor mobile packages.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Alerts Panel:</a:t>
            </a:r>
            <a:r>
              <a:rPr b="0">
                <a:solidFill>
                  <a:srgbClr val="1F2937"/>
                </a:solidFill>
              </a:rPr>
              <a:t> Shows dynamic responses from instructors.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4608" y="1572768"/>
            <a:ext cx="6912864" cy="47183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uden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SHOWCASE: FACULTY &amp; ADMIN PORTALS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Governance panels for faculty and admins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4901184" cy="42611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culty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548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521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3: Faculty Dashboard. Allows instructors to toggle slots status and approve/reject bookings.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9088" y="1572768"/>
            <a:ext cx="4901184" cy="42611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47548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8521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4: Admin Portal. Unified gateway to approve faculty registrations and monitor server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ADMIN CONTROLS &amp; VETTING PIPELINE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Vetting interfaces to verify faculty credentials and monitor server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572768"/>
            <a:ext cx="5449824" cy="38039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min_overview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0352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3.1: Admin Dashboard. Shows user statistics and quick actions to manage system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572768"/>
            <a:ext cx="5449824" cy="38039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_vetting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30352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3.2: Faculty Approvals. Admin interface to approve or reject pending faculty registrations.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APK MOBILE PACKAGING &amp; DIRECT DOWNLOAD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Capacitor hybrid native wrapper and file server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6576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1E3A8A"/>
                </a:solidFill>
              </a:defRPr>
            </a:pPr>
            <a:r>
              <a:t>Why the Mobile App Matters: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Capacitor Runtime:</a:t>
            </a:r>
            <a:r>
              <a:rPr b="0">
                <a:solidFill>
                  <a:srgbClr val="1F2937"/>
                </a:solidFill>
              </a:rPr>
              <a:t> Compiles web codebase into lightweight native Android APK wrapper package.</a:t>
            </a:r>
          </a:p>
          <a:p>
            <a:pPr>
              <a:spcAft>
                <a:spcPts val="800"/>
              </a:spcAft>
              <a:defRPr sz="11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Offline Caching:</a:t>
            </a:r>
            <a:r>
              <a:rPr b="0">
                <a:solidFill>
                  <a:srgbClr val="1F2937"/>
                </a:solidFill>
              </a:rPr>
              <a:t> Service workers preserve layout assets to operate without high mobile bandwidth.</a:t>
            </a:r>
          </a:p>
          <a:p>
            <a:pPr>
              <a:spcAft>
                <a:spcPts val="800"/>
              </a:spcAft>
              <a:defRPr sz="11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Bypass App Stores:</a:t>
            </a:r>
            <a:r>
              <a:rPr b="0">
                <a:solidFill>
                  <a:srgbClr val="1F2937"/>
                </a:solidFill>
              </a:rPr>
              <a:t> Direct download button bypasses verification delays for quick campus deployment.</a:t>
            </a:r>
          </a:p>
          <a:p>
            <a:pPr>
              <a:spcAft>
                <a:spcPts val="800"/>
              </a:spcAft>
              <a:defRPr sz="11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Budget Device Friendly:</a:t>
            </a:r>
            <a:r>
              <a:rPr b="0">
                <a:solidFill>
                  <a:srgbClr val="1F2937"/>
                </a:solidFill>
              </a:rPr>
              <a:t> 3.69MB package size ensures compatibility with low-end devices (e.g. Vivo Y17s).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572768"/>
            <a:ext cx="3621024" cy="307238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k_download_but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347472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47548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5.1: Direct Android App (.APK) download action button integrated on Login and Register forms.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1572768"/>
            <a:ext cx="3621024" cy="307238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k_mediafire_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45920"/>
            <a:ext cx="3474720" cy="2926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47548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5.2: Hosted MediaFire server page distributing compiled direct application package (consultime.apk).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EVALUATION METHODOLOGY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Usability testing framework and focus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Testing Standard: ISO/IEC 25010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Quality Characteristics:</a:t>
            </a:r>
            <a:r>
              <a:rPr b="0">
                <a:solidFill>
                  <a:srgbClr val="1F2937"/>
                </a:solidFill>
              </a:rPr>
              <a:t> Functionality, Usability, Reliability, Performance Efficiency, Security.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Survey Tool:</a:t>
            </a:r>
            <a:r>
              <a:rPr b="0">
                <a:solidFill>
                  <a:srgbClr val="1F2937"/>
                </a:solidFill>
              </a:rPr>
              <a:t> Five-point Likert scale questionnaire.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Analysis:</a:t>
            </a:r>
            <a:r>
              <a:rPr b="0">
                <a:solidFill>
                  <a:srgbClr val="1F2937"/>
                </a:solidFill>
              </a:rPr>
              <a:t> Overall mean and quality interpretations computed.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Focus Group Respondents (N = 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Students:</a:t>
            </a:r>
            <a:r>
              <a:rPr b="0">
                <a:solidFill>
                  <a:srgbClr val="1F2937"/>
                </a:solidFill>
              </a:rPr>
              <a:t> 15 active users tested booking and notification flows.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Faculty Members:</a:t>
            </a:r>
            <a:r>
              <a:rPr b="0">
                <a:solidFill>
                  <a:srgbClr val="1F2937"/>
                </a:solidFill>
              </a:rPr>
              <a:t> 8 instructors verified dynamic availability slots.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Administrators:</a:t>
            </a:r>
            <a:r>
              <a:rPr b="0">
                <a:solidFill>
                  <a:srgbClr val="1F2937"/>
                </a:solidFill>
              </a:rPr>
              <a:t> 3 personnel tested account registration approvals.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EVALUATION RESULTS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ISO/IEC 25010 Software Quality ratings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6B7280"/>
                </a:solidFill>
              </a:defRPr>
            </a:pPr>
            <a:r>
              <a:t>Overall Evaluation Mean</a:t>
            </a:r>
          </a:p>
          <a:p>
            <a:pPr>
              <a:defRPr b="1" sz="3600">
                <a:solidFill>
                  <a:srgbClr val="10B981"/>
                </a:solidFill>
              </a:defRPr>
            </a:pPr>
            <a:r>
              <a:t>4.71 / 5.00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Interpreted as Excellent overall mean score, representing high quality rating.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4114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6B7280"/>
                </a:solidFill>
              </a:defRPr>
            </a:pPr>
            <a:r>
              <a:t>Performance Efficiency</a:t>
            </a:r>
          </a:p>
          <a:p>
            <a:pPr>
              <a:defRPr b="1" sz="2800">
                <a:solidFill>
                  <a:srgbClr val="3B82F6"/>
                </a:solidFill>
              </a:defRPr>
            </a:pPr>
            <a:r>
              <a:t>4.81 Rating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Highest score among criteria. Users highly satisfied with system speed, loading times, and real-time database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50">
                <a:solidFill>
                  <a:srgbClr val="1E3A8A"/>
                </a:solidFill>
              </a:defRPr>
            </a:pPr>
            <a:r>
              <a:t>ISO/IEC 25010 Evaluation Results Breakdown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0" y="2103120"/>
          <a:ext cx="6675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1031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Quality Characteristic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Rating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Functionality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Usability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Performance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Overall Mean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4.71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CROSS-DEVICE SCREEN COMPATIBILITY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Viewport responsiveness tests across multiple devices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103120"/>
                <a:gridCol w="45720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Device 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Screen Size / Resolution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Testing OS &amp; Browser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Display Suitability 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Vivo Y17s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6.56" (720x1612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Android / Chrome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Mobile responsiveness)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Samsung Galaxy S9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5.8" (1440x2960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Android / Chrome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Mobile touch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iPad Air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11" (2360x1640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iOS / Chrome Tablet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Tablet layout double stack)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MSI GF65 Thin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15.6" (1920x1080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Windows / Chrome 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Laptop sidebar display)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Desktop Computer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24" (1920x1080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Windows / Chrome 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Desktop center bound)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CROSS-DEVICE RESPONSIVENESS MOCKUPS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System layout adapting dynamically across different device viewports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sultime_mobil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4747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Mobile Viewport. Optimizes touch layouts for small phone screens (e.g. Vivo Y17s &amp; Samsung S9).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2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sultime_tablet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645920"/>
            <a:ext cx="347472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52544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Tablet Viewport. Adapts sidebar controls and card grids for medium screens (e.g. iPad Air Pro).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4736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sultime_desktop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645920"/>
            <a:ext cx="347472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47888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Desktop Viewport. Maximizes display density and full telemetry views for laptop and desktop workstation resolutions.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IMPLICATIONS FOR PRACTICE &amp; RECOMMENDATIONS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Avenues for academic digital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Implications for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Academic Efficiency:</a:t>
            </a:r>
            <a:r>
              <a:rPr b="0">
                <a:solidFill>
                  <a:srgbClr val="1F2937"/>
                </a:solidFill>
              </a:rPr>
              <a:t> Shifting physical appointment grids online removes scheduling conflicts.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Role Isolation Security:</a:t>
            </a:r>
            <a:r>
              <a:rPr b="0">
                <a:solidFill>
                  <a:srgbClr val="1F2937"/>
                </a:solidFill>
              </a:rPr>
              <a:t> Enforcing strict Row Level Security rules sets a baseline design standard for storing student and advisor logs securely.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Recommendations for Future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Live Chat Channels:</a:t>
            </a:r>
            <a:r>
              <a:rPr b="0">
                <a:solidFill>
                  <a:srgbClr val="1F2937"/>
                </a:solidFill>
              </a:rPr>
              <a:t> Integrate context-based chatting views adjacent to booking slots.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Cross-Platform Deployment:</a:t>
            </a:r>
            <a:r>
              <a:rPr b="0">
                <a:solidFill>
                  <a:srgbClr val="1F2937"/>
                </a:solidFill>
              </a:rPr>
              <a:t> Expand Capacitor pipelines to package applications for Apple iOS systems.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Video Conferences:</a:t>
            </a:r>
            <a:r>
              <a:rPr b="0">
                <a:solidFill>
                  <a:srgbClr val="1F2937"/>
                </a:solidFill>
              </a:rPr>
              <a:t> Embed direct browser video API bridges for remote consultation sessions.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6400" b="1">
                <a:solidFill>
                  <a:srgbClr val="34D399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36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ConsulTime: A Cross-Platform Consultation and Appointment Management System</a:t>
            </a:r>
          </a:p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r>
              <a:t>Questions &amp; Recommendations Session</a:t>
            </a:r>
          </a:p>
          <a:p>
            <a:pPr algn="ctr">
              <a:spcBef>
                <a:spcPts val="2000"/>
              </a:spcBef>
              <a:defRPr sz="1300">
                <a:solidFill>
                  <a:srgbClr val="6B7280"/>
                </a:solidFill>
                <a:latin typeface="Arial"/>
              </a:defRPr>
            </a:pPr>
            <a:r>
              <a:t>Philipp Edward Sapalicio, Ednell Sapalicio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